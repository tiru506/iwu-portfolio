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6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579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-1188720"/>
            <a:ext cx="3657600" cy="3657600"/>
          </a:xfrm>
          <a:prstGeom prst="ellipse">
            <a:avLst/>
          </a:prstGeom>
          <a:solidFill>
            <a:srgbClr val="0D7377">
              <a:alpha val="18000"/>
            </a:srgbClr>
          </a:solidFill>
          <a:ln w="12700">
            <a:solidFill>
              <a:srgbClr val="0D7377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-640080"/>
            <a:ext cx="2560320" cy="2560320"/>
          </a:xfrm>
          <a:prstGeom prst="ellipse">
            <a:avLst/>
          </a:prstGeom>
          <a:solidFill>
            <a:srgbClr val="14BDBD">
              <a:alpha val="13000"/>
            </a:srgbClr>
          </a:solidFill>
          <a:ln w="12700">
            <a:solidFill>
              <a:srgbClr val="14BDBD">
                <a:alpha val="13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0" y="3291840"/>
            <a:ext cx="3200400" cy="3200400"/>
          </a:xfrm>
          <a:prstGeom prst="ellipse">
            <a:avLst/>
          </a:prstGeom>
          <a:solidFill>
            <a:srgbClr val="F5A623">
              <a:alpha val="9000"/>
            </a:srgbClr>
          </a:solidFill>
          <a:ln w="12700">
            <a:solidFill>
              <a:srgbClr val="F5A623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822960"/>
            <a:ext cx="274320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</a:rPr>
              <a:t>CHANGE MANAGEMENT  |  ADAPTIVE LEARNING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6583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Learning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14BD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Change Initiatives</a:t>
            </a:r>
          </a:p>
          <a:p>
            <a:pPr marL="0" indent="0">
              <a:buNone/>
            </a:pPr>
            <a:r>
              <a:rPr lang="en-US" sz="12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Georgia" pitchFamily="34" charset="0"/>
              </a:rPr>
              <a:t>Instructor: Dr. Longe</a:t>
            </a:r>
            <a:endParaRPr lang="en-US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5029200" cy="0"/>
          </a:xfrm>
          <a:prstGeom prst="line">
            <a:avLst/>
          </a:prstGeom>
          <a:noFill/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22853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5A623"/>
                </a:solidFill>
              </a:rPr>
              <a:t>PRESENTED BY GROUP B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3218688"/>
            <a:ext cx="1965960" cy="457200"/>
          </a:xfrm>
          <a:prstGeom prst="rect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14BDB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6072" y="32186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Basana Khadka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87752" y="3218688"/>
            <a:ext cx="1965960" cy="457200"/>
          </a:xfrm>
          <a:prstGeom prst="rect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14BDB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60904" y="32186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Harathi Katta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72584" y="3218688"/>
            <a:ext cx="1965960" cy="457200"/>
          </a:xfrm>
          <a:prstGeom prst="rect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14BDB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45736" y="32186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Sahithi Chandana Kommineni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57416" y="3218688"/>
            <a:ext cx="1965960" cy="457200"/>
          </a:xfrm>
          <a:prstGeom prst="rect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14BDB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30568" y="32186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Tirumala Raju Killamsetti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749040"/>
            <a:ext cx="1965960" cy="457200"/>
          </a:xfrm>
          <a:prstGeom prst="rect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14BDB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6072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Aaquil Khan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87752" y="3749040"/>
            <a:ext cx="1965960" cy="457200"/>
          </a:xfrm>
          <a:prstGeom prst="rect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14BDB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60904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Kiran Katru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72584" y="3749040"/>
            <a:ext cx="1965960" cy="457200"/>
          </a:xfrm>
          <a:prstGeom prst="rect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14BDB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45736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Udayasree Kotapati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Academic  •  Personal  •  Professional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457200"/>
            <a:ext cx="2286000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297180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continuously adjust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based on real feedback,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information, and changing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— rather than following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plan.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880360"/>
            <a:ext cx="365760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0" y="502920"/>
            <a:ext cx="2103120" cy="2103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81728" y="630936"/>
            <a:ext cx="411480" cy="4114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81728" y="630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143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167335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what is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happening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03720" y="502920"/>
            <a:ext cx="2103120" cy="2103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013448" y="630936"/>
            <a:ext cx="411480" cy="4114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13448" y="630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0" y="1143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40880" y="167335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happened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2788920"/>
            <a:ext cx="2103120" cy="21031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81728" y="2916936"/>
            <a:ext cx="411480" cy="4114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81728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Adjust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09160" y="395935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accordingly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03720" y="2788920"/>
            <a:ext cx="2103120" cy="2103120"/>
          </a:xfrm>
          <a:prstGeom prst="rect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013448" y="2916936"/>
            <a:ext cx="411480" cy="4114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013448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&amp; Learn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40880" y="395935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Apply, measure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repeat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732520" y="2468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</a:rPr>
              <a:t>v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15968" y="2468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</a:rPr>
              <a:t>v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4BDBD"/>
                </a:solidFill>
              </a:rPr>
              <a:t>TABLE OF CONTENTS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4320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42416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07899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Context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47088"/>
            <a:ext cx="54864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" y="175564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Game for Emotional Support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414016"/>
            <a:ext cx="54864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" y="232257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Leadership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64408" y="100584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64408" y="1005840"/>
            <a:ext cx="274320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55848" y="1042416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58768" y="107899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Context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47288" y="1847088"/>
            <a:ext cx="54864" cy="2560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11880" y="175564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in Real Life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47288" y="2414016"/>
            <a:ext cx="54864" cy="2560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11880" y="232257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Scenario: Self-Driving Car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08776" y="100584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08776" y="1005840"/>
            <a:ext cx="274320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0216" y="1042416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03136" y="107899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 Context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91656" y="1847088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56248" y="175564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Adoption Challenge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91656" y="2414016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56248" y="232257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Scenario (ChatGPT)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91656" y="2980944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56248" y="288950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in action — across three real-world contexts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5486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1A2E3B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0" dirty="0"/>
          </a:p>
        </p:txBody>
      </p:sp>
      <p:sp>
        <p:nvSpPr>
          <p:cNvPr id="5" name="Shape 3"/>
          <p:cNvSpPr/>
          <p:nvPr/>
        </p:nvSpPr>
        <p:spPr>
          <a:xfrm>
            <a:off x="4572000" y="1463040"/>
            <a:ext cx="22860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A2E3B"/>
                </a:solidFill>
              </a:rPr>
              <a:t>SECTION ONE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192024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ACADEMIC  &gt;  Narrative Game for Emotional Support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73152" cy="4023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005840"/>
            <a:ext cx="201168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PROJECT SCENARIO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426464"/>
            <a:ext cx="128016" cy="12801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13716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narrative-based game for people with disabilities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" y="1773936"/>
            <a:ext cx="128016" cy="12801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" y="17190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Help users express emotions &amp; reduce loneliness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" y="2121408"/>
            <a:ext cx="128016" cy="12801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206654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as a chatbot-style interactive experience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487168"/>
            <a:ext cx="164592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487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KEY CHALLENGES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30352" y="2889504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" y="283464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research papers and prior work available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0352" y="3218688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808" y="316382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guidelines or frameworks to follow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0352" y="3547872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9808" y="349300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reliance on academic research initially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858768"/>
            <a:ext cx="2286000" cy="256032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3858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</a:rPr>
              <a:t>ADAPTIVE LEARNING APPROACH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0352" y="4233672"/>
            <a:ext cx="118872" cy="11887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4187952"/>
            <a:ext cx="33558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early prototypes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24409" y="4480560"/>
            <a:ext cx="130759" cy="11887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20" y="4434840"/>
            <a:ext cx="33558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chatbot to adapt based on user emotions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0352" y="4727448"/>
            <a:ext cx="118872" cy="11887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4681728"/>
            <a:ext cx="33558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with experts (therapists, caregivers, support groups)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26280" y="914400"/>
            <a:ext cx="4343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4" name="Image 0" descr="/home/claude/academic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987552"/>
            <a:ext cx="4160520" cy="38587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ACADEMIC  &gt;  Adaptive Learning Leadership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73152" cy="4023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005840"/>
            <a:ext cx="822960" cy="256032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A623"/>
                </a:solidFill>
              </a:rPr>
              <a:t>AI TOOL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17320" y="10058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371600"/>
            <a:ext cx="82296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PROBLEM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17320" y="13716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user engagement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1828800"/>
            <a:ext cx="3566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1920240"/>
            <a:ext cx="109728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1920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ACTIONS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2286000"/>
            <a:ext cx="201168" cy="201168"/>
          </a:xfrm>
          <a:prstGeom prst="rect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2860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7377"/>
                </a:solidFill>
              </a:rPr>
              <a:t>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86384" y="22860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feedback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615184"/>
            <a:ext cx="201168" cy="201168"/>
          </a:xfrm>
          <a:prstGeom prst="rect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6151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7377"/>
                </a:solidFill>
              </a:rPr>
              <a:t>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6384" y="261518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Experimented with conversation styles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2944368"/>
            <a:ext cx="201168" cy="201168"/>
          </a:xfrm>
          <a:prstGeom prst="rect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29443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7377"/>
                </a:solidFill>
              </a:rPr>
              <a:t>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86384" y="294436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chatbot adaptive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273552"/>
            <a:ext cx="201168" cy="201168"/>
          </a:xfrm>
          <a:prstGeom prst="rect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273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7377"/>
                </a:solidFill>
              </a:rPr>
              <a:t>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6384" y="327355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Collaborated with experts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675888"/>
            <a:ext cx="3566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02920" y="3767328"/>
            <a:ext cx="1097280" cy="256032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37673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OUTCOME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30352" y="4187952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49808" y="413308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experience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4462272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49808" y="440740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engagement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0352" y="4736592"/>
            <a:ext cx="128016" cy="12801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49808" y="468172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flexible team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26280" y="914400"/>
            <a:ext cx="4343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8" name="Image 0" descr="/home/claude/academic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51560"/>
            <a:ext cx="40690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5486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1A2E3B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0" dirty="0"/>
          </a:p>
        </p:txBody>
      </p:sp>
      <p:sp>
        <p:nvSpPr>
          <p:cNvPr id="5" name="Shape 3"/>
          <p:cNvSpPr/>
          <p:nvPr/>
        </p:nvSpPr>
        <p:spPr>
          <a:xfrm>
            <a:off x="4572000" y="1463040"/>
            <a:ext cx="22860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A2E3B"/>
                </a:solidFill>
              </a:rPr>
              <a:t>SECTION TWO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192024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PERSONAL  &gt;  Adaptive Learning in Real Life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73152" cy="40233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Learning in Real Life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30352" y="1700784"/>
            <a:ext cx="128016" cy="128016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627632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rules exactly at the beginning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76272"/>
            <a:ext cx="128016" cy="128016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2103120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driving to be predictable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2651760"/>
            <a:ext cx="128016" cy="128016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" y="2578608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driving is unpredictable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" y="3127248"/>
            <a:ext cx="128016" cy="128016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3054096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to observe and adapt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657600"/>
            <a:ext cx="866394" cy="47548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77874" y="3657600"/>
            <a:ext cx="146304" cy="47548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657600"/>
            <a:ext cx="86639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Rules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314450" y="3657600"/>
            <a:ext cx="866394" cy="47548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180844" y="3657600"/>
            <a:ext cx="146304" cy="47548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14450" y="3657600"/>
            <a:ext cx="86639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Reality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17420" y="3657600"/>
            <a:ext cx="866394" cy="475488"/>
          </a:xfrm>
          <a:prstGeom prst="rect">
            <a:avLst/>
          </a:prstGeom>
          <a:solidFill>
            <a:srgbClr val="4F812D"/>
          </a:solidFill>
          <a:ln w="12700">
            <a:solidFill>
              <a:srgbClr val="4F81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083814" y="3657600"/>
            <a:ext cx="146304" cy="475488"/>
          </a:xfrm>
          <a:prstGeom prst="rect">
            <a:avLst/>
          </a:prstGeom>
          <a:solidFill>
            <a:srgbClr val="4F812D"/>
          </a:solidFill>
          <a:ln w="12700">
            <a:solidFill>
              <a:srgbClr val="4F81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17420" y="3657600"/>
            <a:ext cx="86639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Adaptation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20390" y="3657600"/>
            <a:ext cx="866394" cy="475488"/>
          </a:xfrm>
          <a:prstGeom prst="rect">
            <a:avLst/>
          </a:prstGeom>
          <a:solidFill>
            <a:srgbClr val="E36C09"/>
          </a:solidFill>
          <a:ln w="12700">
            <a:solidFill>
              <a:srgbClr val="E36C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120390" y="3657600"/>
            <a:ext cx="86639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Confidence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26280" y="914400"/>
            <a:ext cx="4343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0" descr="/home/claude/driving_visualization.png"/>
          <p:cNvPicPr>
            <a:picLocks noChangeAspect="1"/>
          </p:cNvPicPr>
          <p:nvPr/>
        </p:nvPicPr>
        <p:blipFill>
          <a:blip r:embed="rId3"/>
          <a:srcRect r="50000"/>
          <a:stretch/>
        </p:blipFill>
        <p:spPr>
          <a:xfrm>
            <a:off x="4434840" y="914400"/>
            <a:ext cx="43434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PERSONAL  &gt;  AI Scenario: Self-Driving Car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872446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73152" cy="4023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Learning in AI Systems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30352" y="1700784"/>
            <a:ext cx="128016" cy="12801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627632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rely on fixed rules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39696"/>
            <a:ext cx="128016" cy="12801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2066544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and conditions constantly change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2578608"/>
            <a:ext cx="128016" cy="12801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" y="2505456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data (traffic, obstacles, behavior)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" y="3017520"/>
            <a:ext cx="128016" cy="12801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2944368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improves over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547872"/>
            <a:ext cx="1097280" cy="457200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5478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31720" y="3547872"/>
            <a:ext cx="1097280" cy="457200"/>
          </a:xfrm>
          <a:prstGeom prst="ellipse">
            <a:avLst/>
          </a:prstGeom>
          <a:solidFill>
            <a:srgbClr val="4F812D"/>
          </a:solidFill>
          <a:ln w="12700">
            <a:solidFill>
              <a:srgbClr val="4F81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31720" y="35478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Learning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31720" y="4224528"/>
            <a:ext cx="1097280" cy="457200"/>
          </a:xfrm>
          <a:prstGeom prst="ellipse">
            <a:avLst/>
          </a:prstGeom>
          <a:solidFill>
            <a:srgbClr val="E36C09"/>
          </a:solidFill>
          <a:ln w="12700">
            <a:solidFill>
              <a:srgbClr val="E36C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331720" y="42245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Decision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4224528"/>
            <a:ext cx="1097280" cy="457200"/>
          </a:xfrm>
          <a:prstGeom prst="ellipse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42245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Feedback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10512" y="3547872"/>
            <a:ext cx="493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9BAD"/>
                </a:solidFill>
              </a:rPr>
              <a:t>&gt;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331720" y="40233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9BAD"/>
                </a:solidFill>
              </a:rPr>
              <a:t>v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810512" y="4224528"/>
            <a:ext cx="493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9BAD"/>
                </a:solidFill>
              </a:rPr>
              <a:t>&lt;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40233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9BAD"/>
                </a:solidFill>
              </a:rPr>
              <a:t>^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83342" y="914400"/>
            <a:ext cx="3430306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8" name="Image 0" descr="/home/claude/driving_visualization.png"/>
          <p:cNvPicPr>
            <a:picLocks noChangeAspect="1"/>
          </p:cNvPicPr>
          <p:nvPr/>
        </p:nvPicPr>
        <p:blipFill>
          <a:blip r:embed="rId3"/>
          <a:srcRect l="49730" r="3457"/>
          <a:stretch>
            <a:fillRect/>
          </a:stretch>
        </p:blipFill>
        <p:spPr>
          <a:xfrm>
            <a:off x="5146766" y="914400"/>
            <a:ext cx="3466882" cy="388620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"Whether person or AI — adapting to change leads to better results."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5486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1A2E3B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0" dirty="0"/>
          </a:p>
        </p:txBody>
      </p:sp>
      <p:sp>
        <p:nvSpPr>
          <p:cNvPr id="5" name="Shape 3"/>
          <p:cNvSpPr/>
          <p:nvPr/>
        </p:nvSpPr>
        <p:spPr>
          <a:xfrm>
            <a:off x="4572000" y="1463040"/>
            <a:ext cx="22860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A2E3B"/>
                </a:solidFill>
              </a:rPr>
              <a:t>SECTION THREE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192024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B"/>
                </a:solidFill>
              </a:rPr>
              <a:t>PROFESSIONAL  &gt;  Cloud Adoption Challenge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73152" cy="4023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005840" cy="237744"/>
          </a:xfrm>
          <a:prstGeom prst="rect">
            <a:avLst/>
          </a:prstGeom>
          <a:solidFill>
            <a:srgbClr val="3D5A6B"/>
          </a:solidFill>
          <a:ln w="12700">
            <a:solidFill>
              <a:srgbClr val="3D5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</a:rPr>
              <a:t>SITUATION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140817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infrastructure → delayed cloud migration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56816"/>
            <a:ext cx="100584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9568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</a:rPr>
              <a:t>CHALLENGE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2920" y="224942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plans caused delays &amp; resistance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798064"/>
            <a:ext cx="1005840" cy="237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7980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</a:rPr>
              <a:t>ADAPTIVE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02920" y="309067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learning: adjust strategy, train teams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639312"/>
            <a:ext cx="1005840" cy="23774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639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</a:rPr>
              <a:t>RESULT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2920" y="393192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adoption, better performance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914400"/>
            <a:ext cx="4343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0" descr="/home/claude/cloud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005840"/>
            <a:ext cx="41605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B"/>
                </a:solidFill>
              </a:rPr>
              <a:t>PROFESSIONAL  &gt;  AI Scenario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73152" cy="4023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005840" cy="237744"/>
          </a:xfrm>
          <a:prstGeom prst="rect">
            <a:avLst/>
          </a:prstGeom>
          <a:solidFill>
            <a:srgbClr val="3D5A6B"/>
          </a:solidFill>
          <a:ln w="12700">
            <a:solidFill>
              <a:srgbClr val="3D5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</a:rPr>
              <a:t>SITUATION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140817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 implementation in company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56816"/>
            <a:ext cx="100584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9568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</a:rPr>
              <a:t>CHALLENGE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2920" y="224942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training failed (skill differences)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798064"/>
            <a:ext cx="1005840" cy="237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7980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</a:rPr>
              <a:t>ADAPTIVE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02920" y="309067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leader: feedback, custom training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639312"/>
            <a:ext cx="1005840" cy="23774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639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</a:rPr>
              <a:t>RESULT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2920" y="393192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adoption &amp; confidence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914400"/>
            <a:ext cx="4343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vs. Adaptive Training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1481328"/>
            <a:ext cx="17830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14813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FIXED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1828800"/>
            <a:ext cx="1783080" cy="347472"/>
          </a:xfrm>
          <a:prstGeom prst="rect">
            <a:avLst/>
          </a:prstGeom>
          <a:solidFill>
            <a:srgbClr val="FDECEA"/>
          </a:solidFill>
          <a:ln w="12700">
            <a:solidFill>
              <a:srgbClr val="F5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182880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training for all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240280"/>
            <a:ext cx="1783080" cy="347472"/>
          </a:xfrm>
          <a:prstGeom prst="rect">
            <a:avLst/>
          </a:prstGeom>
          <a:solidFill>
            <a:srgbClr val="FDECEA"/>
          </a:solidFill>
          <a:ln w="12700">
            <a:solidFill>
              <a:srgbClr val="F5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224028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skill gaps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2651760"/>
            <a:ext cx="1783080" cy="347472"/>
          </a:xfrm>
          <a:prstGeom prst="rect">
            <a:avLst/>
          </a:prstGeom>
          <a:solidFill>
            <a:srgbClr val="FDECEA"/>
          </a:solidFill>
          <a:ln w="12700">
            <a:solidFill>
              <a:srgbClr val="F5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265176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loop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3063240"/>
            <a:ext cx="1783080" cy="347472"/>
          </a:xfrm>
          <a:prstGeom prst="rect">
            <a:avLst/>
          </a:prstGeom>
          <a:solidFill>
            <a:srgbClr val="FDECEA"/>
          </a:solidFill>
          <a:ln w="12700">
            <a:solidFill>
              <a:srgbClr val="F5C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30632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3796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</a:rPr>
              <a:t>&gt;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949440" y="1481328"/>
            <a:ext cx="178308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949440" y="14813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ADAPTIVE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49440" y="1828800"/>
            <a:ext cx="1783080" cy="347472"/>
          </a:xfrm>
          <a:prstGeom prst="rect">
            <a:avLst/>
          </a:prstGeom>
          <a:solidFill>
            <a:srgbClr val="E8F5F5"/>
          </a:solidFill>
          <a:ln w="12700">
            <a:solidFill>
              <a:srgbClr val="B2DF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995160" y="182880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per learner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949440" y="2240280"/>
            <a:ext cx="1783080" cy="347472"/>
          </a:xfrm>
          <a:prstGeom prst="rect">
            <a:avLst/>
          </a:prstGeom>
          <a:solidFill>
            <a:srgbClr val="E8F5F5"/>
          </a:solidFill>
          <a:ln w="12700">
            <a:solidFill>
              <a:srgbClr val="B2DF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95160" y="224028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skill gaps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949440" y="2651760"/>
            <a:ext cx="1783080" cy="347472"/>
          </a:xfrm>
          <a:prstGeom prst="rect">
            <a:avLst/>
          </a:prstGeom>
          <a:solidFill>
            <a:srgbClr val="E8F5F5"/>
          </a:solidFill>
          <a:ln w="12700">
            <a:solidFill>
              <a:srgbClr val="B2DF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95160" y="265176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feedback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949440" y="3063240"/>
            <a:ext cx="1783080" cy="347472"/>
          </a:xfrm>
          <a:prstGeom prst="rect">
            <a:avLst/>
          </a:prstGeom>
          <a:solidFill>
            <a:srgbClr val="E8F5F5"/>
          </a:solidFill>
          <a:ln w="12700">
            <a:solidFill>
              <a:srgbClr val="B2DF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95160" y="30632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26280" y="4343400"/>
            <a:ext cx="434340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617720" y="43434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Better adoption &amp; confidence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B"/>
                </a:solidFill>
              </a:rPr>
              <a:t>PROFESSIONAL  &gt;  Key Takeaways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1207008"/>
            <a:ext cx="475488" cy="47548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207008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learning = flexibility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5488" y="181051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strategy based on real conditions, not just the original plan.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41605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73752" y="1207008"/>
            <a:ext cx="475488" cy="47548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73752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1207008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feedback improves success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check-ins and data loops allow timely course corrections.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416052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8912" y="3172968"/>
            <a:ext cx="475488" cy="47548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" y="3172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3172968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Helps manage change effectively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75488" y="377647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approaches reduce resistance and build team confidence.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9718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09160" y="2971800"/>
            <a:ext cx="4160520" cy="73152"/>
          </a:xfrm>
          <a:prstGeom prst="rect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73752" y="3172968"/>
            <a:ext cx="475488" cy="475488"/>
          </a:xfrm>
          <a:prstGeom prst="ellipse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73752" y="3172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3172968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right strategy for changing situations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10328" y="377647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one-size-fits-all — match your method to the context.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4BD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learning is not a methodology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4BD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it is a mindset.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87168"/>
            <a:ext cx="320040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6334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 </a:t>
            </a:r>
            <a:r>
              <a:rPr lang="en-US" sz="12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120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 </a:t>
            </a:r>
            <a:r>
              <a:rPr lang="en-US" sz="1200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120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200" dirty="0"/>
          </a:p>
        </p:txBody>
      </p:sp>
      <p:pic>
        <p:nvPicPr>
          <p:cNvPr id="9" name="Image 0" descr="/home/claude/thankyou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55448"/>
            <a:ext cx="4434840" cy="46634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584</Words>
  <Application>Microsoft Office PowerPoint</Application>
  <PresentationFormat>On-screen Show (16:9)</PresentationFormat>
  <Paragraphs>188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Tirumala Raju Killamsetti</cp:lastModifiedBy>
  <cp:revision>7</cp:revision>
  <dcterms:created xsi:type="dcterms:W3CDTF">2026-03-21T16:45:51Z</dcterms:created>
  <dcterms:modified xsi:type="dcterms:W3CDTF">2026-03-27T01:33:12Z</dcterms:modified>
</cp:coreProperties>
</file>